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553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496641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A/B-тест геймификации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98086" y="3358952"/>
            <a:ext cx="3482094" cy="1002308"/>
          </a:xfrm>
          <a:prstGeom prst="roundRect">
            <a:avLst>
              <a:gd name="adj" fmla="val 731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ru-RU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8957" y="3539827"/>
            <a:ext cx="31203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Автор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78957" y="3901182"/>
            <a:ext cx="3120352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Сергей</a:t>
            </a:r>
            <a:r>
              <a:rPr lang="ru-RU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 Чеботарев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54701" y="3358952"/>
            <a:ext cx="3482193" cy="1002308"/>
          </a:xfrm>
          <a:prstGeom prst="roundRect">
            <a:avLst>
              <a:gd name="adj" fmla="val 731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5572" y="3539827"/>
            <a:ext cx="31204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Дата отчёта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35572" y="3901182"/>
            <a:ext cx="312045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1 октября 2026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11416" y="3358952"/>
            <a:ext cx="3482193" cy="1002308"/>
          </a:xfrm>
          <a:prstGeom prst="roundRect">
            <a:avLst>
              <a:gd name="adj" fmla="val 731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2287" y="3539827"/>
            <a:ext cx="31204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Период теста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92287" y="3901182"/>
            <a:ext cx="312045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04.05.2026 — 24.05.2026 (20 дней)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31F46B1E-284E-4B38-8C63-9AE6A61C175E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02317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Проблема и гипотеза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72379" y="2798167"/>
            <a:ext cx="5436258" cy="2036663"/>
          </a:xfrm>
          <a:prstGeom prst="roundRect">
            <a:avLst>
              <a:gd name="adj" fmla="val 6170"/>
            </a:avLst>
          </a:prstGeom>
          <a:solidFill>
            <a:srgbClr val="3371A5"/>
          </a:solidFill>
          <a:ln/>
        </p:spPr>
      </p:sp>
      <p:sp>
        <p:nvSpPr>
          <p:cNvPr id="4" name="Text 2"/>
          <p:cNvSpPr/>
          <p:nvPr/>
        </p:nvSpPr>
        <p:spPr>
          <a:xfrm>
            <a:off x="746900" y="2972693"/>
            <a:ext cx="508721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Контекст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6900" y="3403898"/>
            <a:ext cx="5087215" cy="99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Фича: </a:t>
            </a:r>
            <a:r>
              <a:rPr lang="en-US" sz="1350" b="1" kern="0" spc="-27" dirty="0">
                <a:solidFill>
                  <a:srgbClr val="FFFFFF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геймификация</a:t>
            </a:r>
            <a:endParaRPr lang="en-US" sz="1350" dirty="0">
              <a:latin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Задача: повысить retention пользователей платформы за счёт внедрения игровых механик.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15115" y="2972693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Гипотеза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15115" y="3403898"/>
            <a:ext cx="5184844" cy="1273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Добавление игровых элементов увеличит возвращаемость пользователей на горизонте </a:t>
            </a:r>
            <a:r>
              <a:rPr lang="en-US" sz="1350" b="1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7 дней и более</a:t>
            </a: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.</a:t>
            </a:r>
            <a:endParaRPr lang="en-US" sz="1350" dirty="0">
              <a:latin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Первичные метрики: </a:t>
            </a:r>
            <a:r>
              <a:rPr lang="en-US" sz="1350" b="1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Retention 7</a:t>
            </a: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 и </a:t>
            </a:r>
            <a:r>
              <a:rPr lang="en-US" sz="1350" b="1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Retention 14</a:t>
            </a: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. Вторичная метрика: Completion Rate.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BA74835-947E-4328-9AC9-ECCD5CBAE2EA}"/>
              </a:ext>
            </a:extLst>
          </p:cNvPr>
          <p:cNvSpPr/>
          <p:nvPr/>
        </p:nvSpPr>
        <p:spPr>
          <a:xfrm>
            <a:off x="10721130" y="6442745"/>
            <a:ext cx="1470870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63724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Дизайн теста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8086" y="2013248"/>
            <a:ext cx="5288624" cy="57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2997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8086" y="2807295"/>
            <a:ext cx="52886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Группа A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8086" y="3168650"/>
            <a:ext cx="528862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Контроль — без геймификации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04886" y="2013248"/>
            <a:ext cx="5288723" cy="57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2995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04886" y="2807295"/>
            <a:ext cx="528872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Группа B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04886" y="3168650"/>
            <a:ext cx="52887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Тест — с геймификацией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8086" y="3884116"/>
            <a:ext cx="5288624" cy="57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20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8086" y="4678164"/>
            <a:ext cx="52886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Дней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8086" y="5039519"/>
            <a:ext cx="528862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Период: 04.05 — 24.05.2026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04886" y="3884116"/>
            <a:ext cx="5288723" cy="57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α=0.05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04886" y="4678164"/>
            <a:ext cx="528872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Уровень значимости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04886" y="5039519"/>
            <a:ext cx="52887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Двусторонний критерий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8086" y="5515074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Метрики: </a:t>
            </a:r>
            <a:r>
              <a:rPr lang="en-US" sz="1350" b="1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Completion Rate</a:t>
            </a: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, </a:t>
            </a:r>
            <a:r>
              <a:rPr lang="en-US" sz="1350" b="1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Retention 7</a:t>
            </a: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, </a:t>
            </a:r>
            <a:r>
              <a:rPr lang="en-US" sz="1350" b="1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Retention 14</a:t>
            </a: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 (primary). Группы разделены случайным образом.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1534885A-19A2-4826-AA20-0AC96E68BB8F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9032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Данные и очистка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8086" y="1618555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Исходные объёмы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2071588"/>
          <a:ext cx="5184844" cy="1516422"/>
        </p:xfrm>
        <a:graphic>
          <a:graphicData uri="http://schemas.openxmlformats.org/drawingml/2006/table">
            <a:tbl>
              <a:tblPr/>
              <a:tblGrid>
                <a:gridCol w="2592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Таблица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Строк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users_groups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6 008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events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179 330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98086" y="3797102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После очистки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4250134"/>
          <a:ext cx="5184844" cy="1516422"/>
        </p:xfrm>
        <a:graphic>
          <a:graphicData uri="http://schemas.openxmlformats.org/drawingml/2006/table">
            <a:tbl>
              <a:tblPr/>
              <a:tblGrid>
                <a:gridCol w="2592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Таблица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Строк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users_groups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5 992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events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179 111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15115" y="1618555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Что было удалено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5115" y="2071588"/>
            <a:ext cx="5184844" cy="1097558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6584884" y="2265164"/>
            <a:ext cx="47215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8 user_id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584884" y="2696369"/>
            <a:ext cx="472150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Присутствовали в обеих группах — сбой рандомизации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5115" y="3343672"/>
            <a:ext cx="5184844" cy="109755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84884" y="3537248"/>
            <a:ext cx="47215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2 дубля событий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584884" y="3968452"/>
            <a:ext cx="472150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Полные дубликаты строк — баг логирования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5115" y="4615755"/>
            <a:ext cx="5184844" cy="137675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84884" y="4809331"/>
            <a:ext cx="47215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35 пользователей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6584884" y="5240536"/>
            <a:ext cx="472150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Исключены из расчёта Retention 14 — неполное окно наблюдения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7FCC67BF-469A-4972-B917-CDE5699C28A4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6104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Проверка баланса групп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8086" y="1598414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Перед анализом результатов проведена проверка корректности рандомизации по трём критериям.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2073970"/>
          <a:ext cx="10795524" cy="2861596"/>
        </p:xfrm>
        <a:graphic>
          <a:graphicData uri="http://schemas.openxmlformats.org/drawingml/2006/table">
            <a:tbl>
              <a:tblPr/>
              <a:tblGrid>
                <a:gridCol w="269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Статус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Комментарий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7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SRM (размер групп)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0.979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 Норма</a:t>
                      </a:r>
                      <a:endParaRPr lang="en-US" sz="1350" dirty="0">
                        <a:latin typeface="Times New Roman" panose="02020603050405020304" pitchFamily="18" charset="0"/>
                        <a:ea typeface="Noto Color Emoji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Группы сбалансированы по размеру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7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Grade (уровень)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0.226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 Норма</a:t>
                      </a:r>
                      <a:endParaRPr lang="en-US" sz="1350" dirty="0">
                        <a:latin typeface="Times New Roman" panose="02020603050405020304" pitchFamily="18" charset="0"/>
                        <a:ea typeface="Noto Color Emoji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Распределение по уровню одинаково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Стаж на платформе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0.0153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 Перекос</a:t>
                      </a:r>
                      <a:endParaRPr lang="en-US" sz="1350" dirty="0">
                        <a:latin typeface="Times New Roman" panose="02020603050405020304" pitchFamily="18" charset="0"/>
                        <a:ea typeface="Noto Color Emoji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Статистически значимый дисбаланс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8086" y="5144691"/>
            <a:ext cx="10795524" cy="977106"/>
          </a:xfrm>
          <a:prstGeom prst="roundRect">
            <a:avLst>
              <a:gd name="adj" fmla="val 7503"/>
            </a:avLst>
          </a:prstGeom>
          <a:solidFill>
            <a:srgbClr val="FCF2B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07" y="5394127"/>
            <a:ext cx="218177" cy="1745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5305" y="5362773"/>
            <a:ext cx="1005378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000000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Перекос по стажу зафиксирован, однако проверка в подгруппах показала, что эффект геймификации сохраняется во всех трёх бакетах — результаты валидны.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E47A09-451E-468B-8582-FF93704215EB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03535"/>
            <a:ext cx="10795524" cy="39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kern="0" spc="-21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Результаты по метрикам</a:t>
            </a:r>
            <a:endParaRPr lang="en-US" sz="245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1101130"/>
          <a:ext cx="10795524" cy="1315210"/>
        </p:xfrm>
        <a:graphic>
          <a:graphicData uri="http://schemas.openxmlformats.org/drawingml/2006/table">
            <a:tbl>
              <a:tblPr/>
              <a:tblGrid>
                <a:gridCol w="1943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9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7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7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-2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Метрика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-2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Группа A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-2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Группа B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-2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Δ, п.п.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-2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95% CI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-2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Completion Rate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97.63%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98.83%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-21" dirty="0">
                          <a:solidFill>
                            <a:srgbClr val="3371A5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+1.20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[+0.53; +1.87]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4.2e-04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Retention 7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72.71%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77.96%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-21" dirty="0">
                          <a:solidFill>
                            <a:srgbClr val="3371A5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+5.26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[+3.08; +7.44]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2.4e-06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Retention 14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28.94%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36.43%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-21" dirty="0">
                          <a:solidFill>
                            <a:srgbClr val="3371A5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+7.50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[+5.12; +9.87]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6.9e-10</a:t>
                      </a:r>
                      <a:endParaRPr lang="en-US" sz="10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33636" marR="133636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659261"/>
            <a:ext cx="3380695" cy="29954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3293" y="5769769"/>
            <a:ext cx="3990280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kern="0" spc="-21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Completion Rate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155" y="2659261"/>
            <a:ext cx="3380695" cy="2995414"/>
          </a:xfrm>
          <a:prstGeom prst="rect">
            <a:avLst/>
          </a:prstGeom>
        </p:spPr>
      </p:pic>
      <p:sp>
        <p:nvSpPr>
          <p:cNvPr id="3" name="Text 2"/>
          <p:cNvSpPr/>
          <p:nvPr/>
        </p:nvSpPr>
        <p:spPr>
          <a:xfrm>
            <a:off x="4106363" y="5769769"/>
            <a:ext cx="3990280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kern="0" spc="-21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Retention 7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225" y="2659261"/>
            <a:ext cx="3380695" cy="299541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819433" y="5769769"/>
            <a:ext cx="3990280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kern="0" spc="-21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Retention 14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698086" y="6165652"/>
            <a:ext cx="11405108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-21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Все три метрики показали статистически значимый рост в группе B (p &lt; 0.05).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EE173690-9841-48ED-93AC-B3EBA5DCF47D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741686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Минимальный обнаруживаемый эффект (MDE)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64678"/>
              </p:ext>
            </p:extLst>
          </p:nvPr>
        </p:nvGraphicFramePr>
        <p:xfrm>
          <a:off x="698086" y="2603996"/>
          <a:ext cx="10795524" cy="2024012"/>
        </p:xfrm>
        <a:graphic>
          <a:graphicData uri="http://schemas.openxmlformats.org/drawingml/2006/table">
            <a:tbl>
              <a:tblPr/>
              <a:tblGrid>
                <a:gridCol w="269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Метрика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MDE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Фактический эффект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Статус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Completion Rate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1.1 п.п.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+1.2</a:t>
                      </a:r>
                      <a:r>
                        <a:rPr lang="ru-RU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50" kern="0" spc="-27" dirty="0" err="1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п.п</a:t>
                      </a: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На грани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Retention 7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3.2 п.п.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+5.3</a:t>
                      </a:r>
                      <a:r>
                        <a:rPr lang="ru-RU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50" kern="0" spc="-27" dirty="0" err="1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п.п</a:t>
                      </a: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С запасом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Retention 14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3.3 п.п.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+7.5</a:t>
                      </a:r>
                      <a:r>
                        <a:rPr lang="ru-RU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50" kern="0" spc="-27" dirty="0" err="1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п.п</a:t>
                      </a: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С запасом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98086" y="4837113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Completion Rate находится на грани MDE, Retention 7 и Retention 14 обнаружены с достаточным запасом.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4418D55-F5E0-429B-87F3-807EF589E7EB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94482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Анализ воронки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1956792"/>
          <a:ext cx="10795524" cy="3039192"/>
        </p:xfrm>
        <a:graphic>
          <a:graphicData uri="http://schemas.openxmlformats.org/drawingml/2006/table">
            <a:tbl>
              <a:tblPr/>
              <a:tblGrid>
                <a:gridCol w="3562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2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0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Шаг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Группа A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Группа B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Логин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2997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2995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Начали ДЗ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2997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2995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Завершили ДЗ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2926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2960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Login → Started, 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Started → Completed, 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97.63%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98.83%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98086" y="5205115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Все пользователи прошли первые два шага, разница только на третьем (</a:t>
            </a:r>
            <a:r>
              <a:rPr lang="en-US" sz="1350" kern="0" spc="-27" dirty="0">
                <a:solidFill>
                  <a:srgbClr val="3371A5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+1.2 п.п.</a:t>
            </a: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). Фича не удерживает на входе, а стимулирует доводить начатое до конца.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E7E3DD40-9998-45F8-BE95-A05EE30202A8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79921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Устойчивость эффекта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8086" y="1342231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Retention 7 по бакетам стажа — положительный эффект геймификации сохраняется во всех трёх подгруппах.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2014141"/>
          <a:ext cx="5184844" cy="2861596"/>
        </p:xfrm>
        <a:graphic>
          <a:graphicData uri="http://schemas.openxmlformats.org/drawingml/2006/table">
            <a:tbl>
              <a:tblPr/>
              <a:tblGrid>
                <a:gridCol w="155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2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Бакет стажа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Ret7 A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Ret7 B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Δ, п.п.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7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Новички (&lt;90 дней)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71.49%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77.46%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+5.97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7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Продвинутые (90–180)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73.46%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76.66%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+3.20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Опытные (&gt;180 дней)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72.70%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78.62%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+5.93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8086" y="5084862"/>
            <a:ext cx="579442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Перекос по стажу не объясняет разницу — результат валиден.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115" y="2014141"/>
            <a:ext cx="5184844" cy="37321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10323" y="5942608"/>
            <a:ext cx="579442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Retention 7 по бакетам стажа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88E4540-54F6-434F-9A46-42B76E26B833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03859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Эффект по классам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2366169"/>
          <a:ext cx="10795525" cy="2024012"/>
        </p:xfrm>
        <a:graphic>
          <a:graphicData uri="http://schemas.openxmlformats.org/drawingml/2006/table">
            <a:tbl>
              <a:tblPr/>
              <a:tblGrid>
                <a:gridCol w="2159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9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Класс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Ret14 A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Ret14 B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Δ, п.п.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5-7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28.42%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44.49%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3371A5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+16.07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1.7e-17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8-9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29.30%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34.73%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3371A5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+5.43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0.017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10-11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29.36%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25.64%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−3.72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7" dirty="0">
                          <a:solidFill>
                            <a:srgbClr val="2B3541"/>
                          </a:solidFill>
                          <a:latin typeface="Times New Roman" panose="02020603050405020304" pitchFamily="18" charset="0"/>
                          <a:ea typeface="Heebo" pitchFamily="34" charset="-122"/>
                          <a:cs typeface="Times New Roman" panose="02020603050405020304" pitchFamily="18" charset="0"/>
                        </a:rPr>
                        <a:t>0.089</a:t>
                      </a:r>
                      <a:endParaRPr lang="en-US" sz="1350" dirty="0">
                        <a:latin typeface="Times New Roman" panose="02020603050405020304" pitchFamily="18" charset="0"/>
                        <a:ea typeface="Heebo" charset="0"/>
                        <a:cs typeface="Times New Roman" panose="02020603050405020304" pitchFamily="18" charset="0"/>
                      </a:endParaRPr>
                    </a:p>
                  </a:txBody>
                  <a:tcPr marL="174544" marR="174544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98086" y="4599285"/>
            <a:ext cx="10795524" cy="754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5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Эффект неоднородный по классам: сильный в младших (5-7), умеренный в средних (8-9), отсутствует в старших (10-11).</a:t>
            </a:r>
            <a:endParaRPr lang="en-US" sz="1350" dirty="0">
              <a:latin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Важно: это exploratory-анализ, p-values не скорректированы на множественное тестирование.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5B4E2FDA-EE52-4293-83BE-DB0538FF2DDD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797248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Интерпретация результатов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659559"/>
            <a:ext cx="3482094" cy="24011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855" y="2853134"/>
            <a:ext cx="3018754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Completion Rate близко к потолку (~98%)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7855" y="3471168"/>
            <a:ext cx="3018754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Метрика слабо различает группы при значениях, близких к 100%. Информативнее использовать Retention как основной индикатор эффекта.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4701" y="2659559"/>
            <a:ext cx="3482193" cy="24011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24470" y="2853134"/>
            <a:ext cx="301885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Эффект нарастает с горизонтом наблюдения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624470" y="3471168"/>
            <a:ext cx="3018853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+1.2 п.п.</a:t>
            </a: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 (Completion Rate) → </a:t>
            </a:r>
            <a:r>
              <a:rPr lang="en-US" sz="1350" b="1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+5.3 п.п.</a:t>
            </a: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 (Retention 7) → </a:t>
            </a:r>
            <a:r>
              <a:rPr lang="en-US" sz="1350" b="1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+7.5 п.п.</a:t>
            </a: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 (Retention 14). Геймификация удерживает пользователей тем сильнее, чем дольше горизонт.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1416" y="2659559"/>
            <a:ext cx="3482193" cy="24011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81185" y="2853134"/>
            <a:ext cx="301885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Потенциальный рост LTV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281185" y="3214489"/>
            <a:ext cx="3018853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Устойчивое повышение возвращаемости предполагает рост LTV. Прямая проверка требует отдельного исследования с монетизационными метриками.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7B0705A-01B2-4BDE-B9BB-D5DA557F495F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18034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Рекомендация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72379" y="2193032"/>
            <a:ext cx="5436258" cy="3246934"/>
          </a:xfrm>
          <a:prstGeom prst="roundRect">
            <a:avLst>
              <a:gd name="adj" fmla="val 3870"/>
            </a:avLst>
          </a:prstGeom>
          <a:solidFill>
            <a:srgbClr val="3371A5"/>
          </a:solidFill>
          <a:ln/>
        </p:spPr>
      </p:sp>
      <p:sp>
        <p:nvSpPr>
          <p:cNvPr id="4" name="Text 2"/>
          <p:cNvSpPr/>
          <p:nvPr/>
        </p:nvSpPr>
        <p:spPr>
          <a:xfrm>
            <a:off x="746900" y="2367558"/>
            <a:ext cx="508721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Решение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6900" y="2798763"/>
            <a:ext cx="5087215" cy="1553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Раскатить фичу геймификации на </a:t>
            </a:r>
            <a:r>
              <a:rPr lang="en-US" sz="1350" b="1" kern="0" spc="-27" dirty="0">
                <a:solidFill>
                  <a:srgbClr val="FFFFFF"/>
                </a:solidFill>
                <a:latin typeface="Times New Roman" panose="02020603050405020304" pitchFamily="18" charset="0"/>
                <a:ea typeface="Heebo Bold" pitchFamily="34" charset="-122"/>
                <a:cs typeface="Times New Roman" panose="02020603050405020304" pitchFamily="18" charset="0"/>
              </a:rPr>
              <a:t>100% пользователей</a:t>
            </a:r>
            <a:r>
              <a:rPr lang="en-US" sz="1350" kern="0" spc="-27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. Старшие классы (10-11) требуют отдельного мониторинга: эффект там не подтверждён.</a:t>
            </a:r>
            <a:endParaRPr lang="en-US" sz="1350" dirty="0">
              <a:latin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FFFFFF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Все три метрики показали статистически значимый рост. Эффект устойчив в каждой подгруппе по стажу.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15115" y="2367558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Ограничения, которые необходимо учитывать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82335" y="2880519"/>
            <a:ext cx="1916065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Горизонт теста — 20 дней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82335" y="3568402"/>
            <a:ext cx="1916065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Долгосрочный эффект (Retention 30/60) не проверен в рамках данного эксперимента.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83795" y="2880519"/>
            <a:ext cx="1916164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Смежные метрики не измерялись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583795" y="3568402"/>
            <a:ext cx="1916164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Время в приложении, нагрузка на инфраструктуру и монетизационные показатели остались за рамками теста.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3E26F8-343F-4163-BDA3-89D7E2847832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09290"/>
            <a:ext cx="10795524" cy="48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26" dirty="0">
                <a:solidFill>
                  <a:srgbClr val="051D3A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Следующие шаги</a:t>
            </a:r>
            <a:endParaRPr lang="en-US" sz="3000" dirty="0">
              <a:latin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86323" y="1297384"/>
            <a:ext cx="19050" cy="3998615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4" name="Shape 2"/>
          <p:cNvSpPr/>
          <p:nvPr/>
        </p:nvSpPr>
        <p:spPr>
          <a:xfrm>
            <a:off x="5440028" y="1471910"/>
            <a:ext cx="490823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5" name="Shape 3"/>
          <p:cNvSpPr/>
          <p:nvPr/>
        </p:nvSpPr>
        <p:spPr>
          <a:xfrm>
            <a:off x="5911801" y="1297384"/>
            <a:ext cx="368092" cy="368102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80360" y="1337072"/>
            <a:ext cx="230975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1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8086" y="1353542"/>
            <a:ext cx="4579624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До раскатки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8086" y="1686123"/>
            <a:ext cx="4579624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9000"/>
              </a:lnSpc>
              <a:buNone/>
            </a:pPr>
            <a:r>
              <a:rPr lang="en-US" sz="125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Зафиксировать Retention 30/60 текущих когорт периода эксперимента — базовая линия для будущего сравнения.</a:t>
            </a:r>
            <a:endParaRPr lang="en-US" sz="12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0844" y="2433241"/>
            <a:ext cx="490823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0" name="Shape 8"/>
          <p:cNvSpPr/>
          <p:nvPr/>
        </p:nvSpPr>
        <p:spPr>
          <a:xfrm>
            <a:off x="5911801" y="2258715"/>
            <a:ext cx="368092" cy="368102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0360" y="2298402"/>
            <a:ext cx="230975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2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13985" y="2314873"/>
            <a:ext cx="4579624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Раскатка на 100%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13985" y="2647454"/>
            <a:ext cx="4579624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5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Перевести всех пользователей на версию с геймификацией. Контрольной группы после раскатки не будет.</a:t>
            </a:r>
            <a:endParaRPr lang="en-US" sz="1250" dirty="0">
              <a:latin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40028" y="3269258"/>
            <a:ext cx="490823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11801" y="3094732"/>
            <a:ext cx="368092" cy="368102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0360" y="3134420"/>
            <a:ext cx="230975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3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8086" y="3150890"/>
            <a:ext cx="4579624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Мониторинг (1–2 мес.)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8086" y="3483471"/>
            <a:ext cx="4579624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9000"/>
              </a:lnSpc>
              <a:buNone/>
            </a:pPr>
            <a:r>
              <a:rPr lang="en-US" sz="125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Запросы к БД раз в 1–2 месяца: Retention 30/60 у новых когорт. Сравнение с базовой линией периода эксперимента.</a:t>
            </a:r>
            <a:endParaRPr lang="en-US" sz="1250" dirty="0">
              <a:latin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60844" y="4105275"/>
            <a:ext cx="490823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11801" y="3930749"/>
            <a:ext cx="368092" cy="368102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0360" y="3970437"/>
            <a:ext cx="230975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4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13985" y="3986907"/>
            <a:ext cx="4579624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Цель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13985" y="4319488"/>
            <a:ext cx="4579624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50" kern="0" spc="-26" dirty="0">
                <a:solidFill>
                  <a:srgbClr val="2B3541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Своевременно обнаружить выгорание эффекта и принять решение о корректировке механик геймификации.</a:t>
            </a:r>
            <a:endParaRPr lang="en-US" sz="1250" dirty="0">
              <a:latin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98086" y="5468541"/>
            <a:ext cx="10795524" cy="880170"/>
          </a:xfrm>
          <a:prstGeom prst="roundRect">
            <a:avLst>
              <a:gd name="adj" fmla="val 7808"/>
            </a:avLst>
          </a:prstGeom>
          <a:solidFill>
            <a:srgbClr val="D8E7F3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93" y="5684738"/>
            <a:ext cx="204485" cy="1636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29786" y="5662811"/>
            <a:ext cx="10100216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Отсутствие контрольной группы после раскатки делает сравнение с историческими когортами единственным инструментом мониторинга — важно зафиксировать базовую линию до начала раскатки.</a:t>
            </a:r>
            <a:endParaRPr lang="en-US" sz="1250" dirty="0">
              <a:latin typeface="Times New Roman" panose="02020603050405020304" pitchFamily="18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F5720132-2E87-4505-9F73-5173D92C8150}"/>
              </a:ext>
            </a:extLst>
          </p:cNvPr>
          <p:cNvSpPr/>
          <p:nvPr/>
        </p:nvSpPr>
        <p:spPr>
          <a:xfrm>
            <a:off x="10791038" y="6442745"/>
            <a:ext cx="1400962" cy="415255"/>
          </a:xfrm>
          <a:prstGeom prst="ellipse">
            <a:avLst/>
          </a:prstGeom>
          <a:solidFill>
            <a:srgbClr val="FDF1E9"/>
          </a:solidFill>
          <a:ln>
            <a:solidFill>
              <a:srgbClr val="FAF5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916</Words>
  <Application>Microsoft Office PowerPoint</Application>
  <PresentationFormat>Широкоэкранный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GameTraxar</dc:creator>
  <cp:lastModifiedBy>arhangel.st.2033@yandex.ru</cp:lastModifiedBy>
  <cp:revision>4</cp:revision>
  <dcterms:created xsi:type="dcterms:W3CDTF">2026-10-01T10:09:37Z</dcterms:created>
  <dcterms:modified xsi:type="dcterms:W3CDTF">2026-10-01T10:22:39Z</dcterms:modified>
</cp:coreProperties>
</file>